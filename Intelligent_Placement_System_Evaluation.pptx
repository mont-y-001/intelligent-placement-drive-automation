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713232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67DCD2"/>
                </a:solidFill>
                <a:latin typeface="Aptos"/>
              </a:rPr>
              <a:t>INTELLIGENT PLACEMENT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589520" cy="1371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From Job Description
to Eligible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54680"/>
            <a:ext cx="6766560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0">
                <a:solidFill>
                  <a:srgbClr val="E0EDEF"/>
                </a:solidFill>
                <a:latin typeface="Aptos"/>
              </a:rPr>
              <a:t>AI-assisted placement screening using PDF retrieval, structured JD analysis, and student skill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989320"/>
            <a:ext cx="685800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MSE-1 Robotic Agentic Automation (RAA) | CA212E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309360"/>
            <a:ext cx="502920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100" b="0">
                <a:solidFill>
                  <a:srgbClr val="AABFC7"/>
                </a:solidFill>
                <a:latin typeface="Aptos"/>
              </a:rPr>
              <a:t>Evaluation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25880"/>
            <a:ext cx="2423160" cy="86868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325880"/>
            <a:ext cx="73152" cy="868680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90472"/>
            <a:ext cx="2011679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92807"/>
            <a:ext cx="2011679" cy="15544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PDF + 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560320"/>
            <a:ext cx="2423160" cy="86868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73152" cy="86868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724912"/>
            <a:ext cx="2011679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27248"/>
            <a:ext cx="2011679" cy="15544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Gemini + Pydantic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794760"/>
            <a:ext cx="2423160" cy="86868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3794760"/>
            <a:ext cx="73152" cy="868680"/>
          </a:xfrm>
          <a:prstGeom prst="rect">
            <a:avLst/>
          </a:prstGeom>
          <a:solidFill>
            <a:srgbClr val="50A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959352"/>
            <a:ext cx="2011679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361688"/>
            <a:ext cx="2011679" cy="15544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Eligibility shortlist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01 | EVALUATION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Evaluation alignment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234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73152" cy="1234440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8006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Problem identification &amp; requirement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4800600" cy="521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Manual screening is slow and inconsistent when a JD and a large student sheet must be compared.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1234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73152" cy="123444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10512"/>
            <a:ext cx="48006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Process analysis &amp; RPA solution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4800600" cy="521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 repeatable pipeline turns unstructured JD text into structured criteria, then screens student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212080" cy="1234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73152" cy="1234440"/>
          </a:xfrm>
          <a:prstGeom prst="rect">
            <a:avLst/>
          </a:prstGeom>
          <a:solidFill>
            <a:srgbClr val="50A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10712"/>
            <a:ext cx="48006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Proposed solution, novelty &amp;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13048"/>
            <a:ext cx="4800600" cy="521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Agent-based analysis, vector retrieval, and a transparent matching rule create an explainable prototype.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212080" cy="1234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46120"/>
            <a:ext cx="73152" cy="1234440"/>
          </a:xfrm>
          <a:prstGeom prst="rect">
            <a:avLst/>
          </a:prstGeom>
          <a:solidFill>
            <a:srgbClr val="78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48006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Evidence used in this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13048"/>
            <a:ext cx="4800600" cy="521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Local JD PDF, 100-row Excel dataset, source implementation, and the current prototype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78992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800" b="1">
                <a:solidFill>
                  <a:srgbClr val="0C1E32"/>
                </a:solidFill>
                <a:latin typeface="Aptos"/>
              </a:rPr>
              <a:t>The deck separates what is implemented today from what is recommended for the next iteration.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02 |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The placement-screening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62940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82330"/>
                </a:solidFill>
                <a:latin typeface="Aptos"/>
              </a:defRPr>
            </a:pPr>
            <a:r>
              <a:t>Job descriptions are semi-structured documents with requirements mixed with responsibilities and optional skills.</a:t>
            </a:r>
          </a:p>
          <a:p>
            <a:pPr>
              <a:spcAft>
                <a:spcPts val="1000"/>
              </a:spcAft>
              <a:defRPr sz="1900" b="0">
                <a:solidFill>
                  <a:srgbClr val="182330"/>
                </a:solidFill>
                <a:latin typeface="Aptos"/>
              </a:defRPr>
            </a:pPr>
            <a:r>
              <a:t>Student information is stored separately in tabular form, creating a comparison and normalization problem.</a:t>
            </a:r>
          </a:p>
          <a:p>
            <a:pPr>
              <a:spcAft>
                <a:spcPts val="1000"/>
              </a:spcAft>
              <a:defRPr sz="1900" b="0">
                <a:solidFill>
                  <a:srgbClr val="182330"/>
                </a:solidFill>
                <a:latin typeface="Aptos"/>
              </a:defRPr>
            </a:pPr>
            <a:r>
              <a:t>Manual review does not scale to 100+ candidates and makes decisions harder to audit.</a:t>
            </a:r>
          </a:p>
          <a:p>
            <a:pPr>
              <a:spcAft>
                <a:spcPts val="1000"/>
              </a:spcAft>
              <a:defRPr sz="1900" b="0">
                <a:solidFill>
                  <a:srgbClr val="182330"/>
                </a:solidFill>
                <a:latin typeface="Aptos"/>
              </a:defRPr>
            </a:pPr>
            <a:r>
              <a:t>The target outcome is a shortlist with a clear reason for inclusion or exclusion.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691640"/>
            <a:ext cx="3429000" cy="201168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691640"/>
            <a:ext cx="73152" cy="201168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56232"/>
            <a:ext cx="301752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Input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58568"/>
            <a:ext cx="3017520" cy="12984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JD: PDF
Candidates: Excel
Decision: eligibility shortlist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16052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009694"/>
                </a:solidFill>
                <a:latin typeface="Aptos"/>
              </a:rPr>
              <a:t>Success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526280"/>
            <a:ext cx="3063240" cy="10515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0C1E32"/>
                </a:solidFill>
                <a:latin typeface="Aptos"/>
              </a:rPr>
              <a:t>Reduce repetitive screening while preserving traceability from JD evidence to candidate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03 | PROCESS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4572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965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PDF 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19659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0">
                <a:solidFill>
                  <a:srgbClr val="182330"/>
                </a:solidFill>
                <a:latin typeface="Aptos"/>
              </a:rPr>
              <a:t>PyPDFLoader reads the job description and returns document pages.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600200"/>
            <a:ext cx="457200" cy="457200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18488"/>
            <a:ext cx="4572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40280"/>
            <a:ext cx="1965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Text Splitter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24328"/>
            <a:ext cx="19659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0">
                <a:solidFill>
                  <a:srgbClr val="182330"/>
                </a:solidFill>
                <a:latin typeface="Aptos"/>
              </a:rPr>
              <a:t>The JD is split into chunks for focused retrieval.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18488"/>
            <a:ext cx="4572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40280"/>
            <a:ext cx="1965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624328"/>
            <a:ext cx="19659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0">
                <a:solidFill>
                  <a:srgbClr val="182330"/>
                </a:solidFill>
                <a:latin typeface="Aptos"/>
              </a:rPr>
              <a:t>Hugging Face embeddings and FAISS index the JD chunks.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1600200"/>
            <a:ext cx="457200" cy="457200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618488"/>
            <a:ext cx="4572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40280"/>
            <a:ext cx="1965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JD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624328"/>
            <a:ext cx="19659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0">
                <a:solidFill>
                  <a:srgbClr val="182330"/>
                </a:solidFill>
                <a:latin typeface="Aptos"/>
              </a:rPr>
              <a:t>Gemini returns a typed JDRequirements object.</a:t>
            </a:r>
          </a:p>
        </p:txBody>
      </p:sp>
      <p:sp>
        <p:nvSpPr>
          <p:cNvPr id="23" name="Oval 22"/>
          <p:cNvSpPr/>
          <p:nvPr/>
        </p:nvSpPr>
        <p:spPr>
          <a:xfrm>
            <a:off x="9418320" y="1600200"/>
            <a:ext cx="457200" cy="457200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18488"/>
            <a:ext cx="4572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240280"/>
            <a:ext cx="19659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Eligibility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24328"/>
            <a:ext cx="19659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0">
                <a:solidFill>
                  <a:srgbClr val="182330"/>
                </a:solidFill>
                <a:latin typeface="Aptos"/>
              </a:rPr>
              <a:t>Student skill lists are compared with required skills.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97480" y="1828800"/>
            <a:ext cx="292608" cy="256032"/>
          </a:xfrm>
          <a:prstGeom prst="rightArrow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846320" y="1828800"/>
            <a:ext cx="292608" cy="256032"/>
          </a:xfrm>
          <a:prstGeom prst="rightArrow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995160" y="1828800"/>
            <a:ext cx="292608" cy="256032"/>
          </a:xfrm>
          <a:prstGeom prst="rightArrow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9144000" y="1828800"/>
            <a:ext cx="292608" cy="256032"/>
          </a:xfrm>
          <a:prstGeom prst="rightArrow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292608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09694"/>
                </a:solidFill>
                <a:latin typeface="Aptos"/>
              </a:rPr>
              <a:t>LangChain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2"/>
            <a:ext cx="1024128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900" b="1">
                <a:solidFill>
                  <a:srgbClr val="0C1E32"/>
                </a:solidFill>
                <a:latin typeface="Aptos"/>
              </a:rPr>
              <a:t>PDFLoader -&gt; TextSplitter -&gt; Embedding -&gt; Retriever -&gt; JDAgent -&gt; EligibilityAgent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04 | 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Workflow: from source documents to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658368" cy="658368"/>
          </a:xfrm>
          <a:prstGeom prst="ellipse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73936"/>
            <a:ext cx="658368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2578608"/>
            <a:ext cx="10058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600" b="1">
                <a:solidFill>
                  <a:srgbClr val="0C1E32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41732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0">
                <a:solidFill>
                  <a:srgbClr val="182330"/>
                </a:solidFill>
                <a:latin typeface="Aptos"/>
              </a:rPr>
              <a:t>Read the JD PDF and student workbook.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00200" y="1883664"/>
            <a:ext cx="1051560" cy="274320"/>
          </a:xfrm>
          <a:prstGeom prst="rightArrow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1691640"/>
            <a:ext cx="658368" cy="658368"/>
          </a:xfrm>
          <a:prstGeom prst="ellipse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773936"/>
            <a:ext cx="658368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578608"/>
            <a:ext cx="10058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600" b="1">
                <a:solidFill>
                  <a:srgbClr val="0C1E32"/>
                </a:solidFill>
                <a:latin typeface="Aptos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017520"/>
            <a:ext cx="141732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0">
                <a:solidFill>
                  <a:srgbClr val="182330"/>
                </a:solidFill>
                <a:latin typeface="Aptos"/>
              </a:rPr>
              <a:t>Fetch the most relevant JD context.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1883664"/>
            <a:ext cx="1051560" cy="274320"/>
          </a:xfrm>
          <a:prstGeom prst="rightArrow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57800" y="1691640"/>
            <a:ext cx="658368" cy="658368"/>
          </a:xfrm>
          <a:prstGeom prst="ellipse">
            <a:avLst/>
          </a:prstGeom>
          <a:solidFill>
            <a:srgbClr val="50A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773936"/>
            <a:ext cx="658368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2578608"/>
            <a:ext cx="10058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600" b="1">
                <a:solidFill>
                  <a:srgbClr val="0C1E32"/>
                </a:solidFill>
                <a:latin typeface="Aptos"/>
              </a:rPr>
              <a:t>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017520"/>
            <a:ext cx="141732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0">
                <a:solidFill>
                  <a:srgbClr val="182330"/>
                </a:solidFill>
                <a:latin typeface="Aptos"/>
              </a:rPr>
              <a:t>Extract role, education, skills, and experience.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80760" y="1883664"/>
            <a:ext cx="1051560" cy="274320"/>
          </a:xfrm>
          <a:prstGeom prst="rightArrow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0" y="1691640"/>
            <a:ext cx="658368" cy="658368"/>
          </a:xfrm>
          <a:prstGeom prst="ellipse">
            <a:avLst/>
          </a:prstGeom>
          <a:solidFill>
            <a:srgbClr val="78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1773936"/>
            <a:ext cx="658368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578608"/>
            <a:ext cx="10058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600" b="1">
                <a:solidFill>
                  <a:srgbClr val="0C1E32"/>
                </a:solidFill>
                <a:latin typeface="Aptos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17520"/>
            <a:ext cx="141732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0">
                <a:solidFill>
                  <a:srgbClr val="182330"/>
                </a:solidFill>
                <a:latin typeface="Aptos"/>
              </a:rPr>
              <a:t>Compare mandatory skills with each student.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21040" y="1883664"/>
            <a:ext cx="1051560" cy="274320"/>
          </a:xfrm>
          <a:prstGeom prst="rightArrow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38360" y="1691640"/>
            <a:ext cx="658368" cy="658368"/>
          </a:xfrm>
          <a:prstGeom prst="ellipse">
            <a:avLst/>
          </a:prstGeom>
          <a:solidFill>
            <a:srgbClr val="0C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1773936"/>
            <a:ext cx="658368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8" y="2578608"/>
            <a:ext cx="10058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600" b="1">
                <a:solidFill>
                  <a:srgbClr val="0C1E32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017520"/>
            <a:ext cx="141732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0">
                <a:solidFill>
                  <a:srgbClr val="182330"/>
                </a:solidFill>
                <a:latin typeface="Aptos"/>
              </a:rPr>
              <a:t>Return candidate details for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892040"/>
            <a:ext cx="9326880" cy="86868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4892040"/>
            <a:ext cx="73152" cy="86868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056631"/>
            <a:ext cx="89154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458968"/>
            <a:ext cx="8915400" cy="15544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Keep extraction and matching separate: the JD agent interprets the document; the eligibility agent applies a visible rule to student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05 | TECHNICAL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Job-description analysis is structured, not free-form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7607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000" b="1">
                <a:solidFill>
                  <a:srgbClr val="0C1E32"/>
                </a:solidFill>
                <a:latin typeface="Aptos"/>
              </a:rPr>
              <a:t>Source JD: Python Full Stack Developer Fresher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760720" cy="30175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82330"/>
                </a:solidFill>
                <a:latin typeface="Aptos"/>
              </a:defRPr>
            </a:pPr>
            <a:r>
              <a:t>Role: Python Full Stack Developer Fresher</a:t>
            </a:r>
          </a:p>
          <a:p>
            <a:pPr>
              <a:spcAft>
                <a:spcPts val="1000"/>
              </a:spcAft>
              <a:defRPr sz="1600" b="0">
                <a:solidFill>
                  <a:srgbClr val="182330"/>
                </a:solidFill>
                <a:latin typeface="Aptos"/>
              </a:defRPr>
            </a:pPr>
            <a:r>
              <a:t>Core work: backend systems, frontend applications, APIs, databases</a:t>
            </a:r>
          </a:p>
          <a:p>
            <a:pPr>
              <a:spcAft>
                <a:spcPts val="1000"/>
              </a:spcAft>
              <a:defRPr sz="1600" b="0">
                <a:solidFill>
                  <a:srgbClr val="182330"/>
                </a:solidFill>
                <a:latin typeface="Aptos"/>
              </a:defRPr>
            </a:pPr>
            <a:r>
              <a:t>Required skills: Python, HTML, CSS, JavaScript, backend framework, frontend framework, SQL, Git</a:t>
            </a:r>
          </a:p>
          <a:p>
            <a:pPr>
              <a:spcAft>
                <a:spcPts val="1000"/>
              </a:spcAft>
              <a:defRPr sz="1600" b="0">
                <a:solidFill>
                  <a:srgbClr val="182330"/>
                </a:solidFill>
                <a:latin typeface="Aptos"/>
              </a:defRPr>
            </a:pPr>
            <a:r>
              <a:t>Good to have: internship/project experience, cloud, Docker or CI/CD basics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3611880" cy="3520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417320"/>
            <a:ext cx="73152" cy="3520440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581912"/>
            <a:ext cx="32004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Typed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84248"/>
            <a:ext cx="3200400" cy="2807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JDRequirements
job_role
required_qualification
minimum_10th_percentage
minimum_12th_percentage
minimum_graduation_percentage
required_technical_skills
required_experience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5303520"/>
            <a:ext cx="3474720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0C1E32"/>
                </a:solidFill>
                <a:latin typeface="Aptos"/>
              </a:rPr>
              <a:t>Pydantic validation makes downstream matching predictable and easier to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06 |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Candidate data and current matching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38912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0C1E32"/>
                </a:solidFill>
                <a:latin typeface="Aptos"/>
              </a:rPr>
              <a:t>Dataset size: 100 student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21792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09694"/>
                </a:solidFill>
                <a:latin typeface="Aptos"/>
              </a:rPr>
              <a:t>Current skill-only example (Python + SQL): 15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3258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560320"/>
            <a:ext cx="4251960" cy="219456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05456"/>
            <a:ext cx="4114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300" b="1">
                <a:solidFill>
                  <a:srgbClr val="0C1E32"/>
                </a:solidFill>
                <a:latin typeface="Aptos"/>
              </a:rPr>
              <a:t>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13258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035808"/>
            <a:ext cx="3084755" cy="219456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80944"/>
            <a:ext cx="4114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300" b="1">
                <a:solidFill>
                  <a:srgbClr val="0C1E32"/>
                </a:solidFill>
                <a:latin typeface="Aptos"/>
              </a:rP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65576"/>
            <a:ext cx="13258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511296"/>
            <a:ext cx="3001383" cy="219456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56432"/>
            <a:ext cx="4114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300" b="1">
                <a:solidFill>
                  <a:srgbClr val="0C1E32"/>
                </a:solidFill>
                <a:latin typeface="Aptos"/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41064"/>
            <a:ext cx="13258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986784"/>
            <a:ext cx="1500691" cy="219456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114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300" b="1">
                <a:solidFill>
                  <a:srgbClr val="0C1E32"/>
                </a:solidFill>
                <a:latin typeface="Aptos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16552"/>
            <a:ext cx="13258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React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462272"/>
            <a:ext cx="1000461" cy="219456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407408"/>
            <a:ext cx="41148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300" b="1">
                <a:solidFill>
                  <a:srgbClr val="0C1E32"/>
                </a:solidFill>
                <a:latin typeface="Aptos"/>
              </a:rP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828800"/>
            <a:ext cx="2926080" cy="21488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828800"/>
            <a:ext cx="73152" cy="214884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993392"/>
            <a:ext cx="25146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Sample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395728"/>
            <a:ext cx="2514600" cy="1435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Aarav Sharma
MCA2026001
84.82% | 60.88% | 66.08%
Skills: Python,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343400"/>
            <a:ext cx="2880360" cy="10058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0C1E32"/>
                </a:solidFill>
                <a:latin typeface="Aptos"/>
              </a:rPr>
              <a:t>The workbook is ready for batch screening; the current agent returns matching rows as candidate dictionaries.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07 |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Evaluation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9319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Problem Identification &amp; 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417320"/>
            <a:ext cx="5257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Clear manual-screening problem; source JD and Excel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1399032"/>
            <a:ext cx="1051560" cy="384048"/>
          </a:xfrm>
          <a:prstGeom prst="round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435608"/>
            <a:ext cx="1051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39319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Process Analysis &amp; RPA Solution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03704"/>
            <a:ext cx="5257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Five-stage pipeline with separate analysis and matching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2185416"/>
            <a:ext cx="1051560" cy="384048"/>
          </a:xfrm>
          <a:prstGeom prst="round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221992"/>
            <a:ext cx="1051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90088"/>
            <a:ext cx="39319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90088"/>
            <a:ext cx="5257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PDF retrieval + structured extraction + deterministic skill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971800"/>
            <a:ext cx="1051560" cy="384048"/>
          </a:xfrm>
          <a:prstGeom prst="round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3008376"/>
            <a:ext cx="1051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39319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Novelty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76472"/>
            <a:ext cx="5257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Agent separation and typed JD output improve explainability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3758184"/>
            <a:ext cx="1051560" cy="384048"/>
          </a:xfrm>
          <a:prstGeom prst="round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794759"/>
            <a:ext cx="1051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62856"/>
            <a:ext cx="39319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0C1E32"/>
                </a:solidFill>
                <a:latin typeface="Aptos"/>
              </a:rPr>
              <a:t>Feasibility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62856"/>
            <a:ext cx="5257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Runs with existing Python/LangChain stack and local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4544568"/>
            <a:ext cx="1051560" cy="384048"/>
          </a:xfrm>
          <a:prstGeom prst="round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4581144"/>
            <a:ext cx="1051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1014984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800" b="1">
                <a:solidFill>
                  <a:srgbClr val="0C1E32"/>
                </a:solidFill>
                <a:latin typeface="Aptos"/>
              </a:rPr>
              <a:t>Rubric fit is strongest when the demo shows the complete path from JD evidence to candidate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08 |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Current limitations and next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91840" cy="2377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2377440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81912"/>
            <a:ext cx="28803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Implemented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2880360" cy="1664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PDF retrieval
Typed JD extraction
Skill-based eligibility
Candidate details printed for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291840" cy="2377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2377440"/>
          </a:xfrm>
          <a:prstGeom prst="rect">
            <a:avLst/>
          </a:prstGeom>
          <a:solidFill>
            <a:srgbClr val="B9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81912"/>
            <a:ext cx="28803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Important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2880360" cy="1664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The JD agent extracts academic thresholds, but EligibilityAgent currently checks only required technical skills. Percentages are not yet used in the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291840" cy="23774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2377440"/>
          </a:xfrm>
          <a:prstGeom prst="rect">
            <a:avLst/>
          </a:prstGeom>
          <a:solidFill>
            <a:srgbClr val="F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81912"/>
            <a:ext cx="288036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Recommended 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84248"/>
            <a:ext cx="2880360" cy="16642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Apply education thresholds, normalize synonyms such as Flask/Django, add match reasons, and export a ranked shortlist.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10012680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200" b="1">
                <a:solidFill>
                  <a:srgbClr val="0C1E32"/>
                </a:solidFill>
                <a:latin typeface="Aptos"/>
              </a:rPr>
              <a:t>This distinction protects evaluation credibility: the presentation demonstrates the prototype without overstating its current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21945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009694"/>
                </a:solidFill>
                <a:latin typeface="Aptos"/>
              </a:rPr>
              <a:t>09 |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800" b="1">
                <a:solidFill>
                  <a:srgbClr val="0C1E32"/>
                </a:solidFill>
                <a:latin typeface="Aptos"/>
              </a:rPr>
              <a:t>Demonstration plan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B6C7A"/>
                </a:solidFill>
                <a:latin typeface="Aptos"/>
              </a:rPr>
              <a:t>Intelligent Placement System | Evaluation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1000" b="1">
                <a:solidFill>
                  <a:srgbClr val="009694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583680" cy="3566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82330"/>
                </a:solidFill>
                <a:latin typeface="Aptos"/>
              </a:defRPr>
            </a:pPr>
            <a:r>
              <a:t>Open with the source JD and show the extracted requirements object.</a:t>
            </a:r>
          </a:p>
          <a:p>
            <a:pPr>
              <a:spcAft>
                <a:spcPts val="1000"/>
              </a:spcAft>
              <a:defRPr sz="1800" b="0">
                <a:solidFill>
                  <a:srgbClr val="182330"/>
                </a:solidFill>
                <a:latin typeface="Aptos"/>
              </a:defRPr>
            </a:pPr>
            <a:r>
              <a:t>Show the 100-row student workbook and run the eligibility agent.</a:t>
            </a:r>
          </a:p>
          <a:p>
            <a:pPr>
              <a:spcAft>
                <a:spcPts val="1000"/>
              </a:spcAft>
              <a:defRPr sz="1800" b="0">
                <a:solidFill>
                  <a:srgbClr val="182330"/>
                </a:solidFill>
                <a:latin typeface="Aptos"/>
              </a:defRPr>
            </a:pPr>
            <a:r>
              <a:t>Display two or three candidate records with their matched skills.</a:t>
            </a:r>
          </a:p>
          <a:p>
            <a:pPr>
              <a:spcAft>
                <a:spcPts val="1000"/>
              </a:spcAft>
              <a:defRPr sz="1800" b="0">
                <a:solidFill>
                  <a:srgbClr val="182330"/>
                </a:solidFill>
                <a:latin typeface="Aptos"/>
              </a:defRPr>
            </a:pPr>
            <a:r>
              <a:t>Explain the current limitation and the next release improvement.</a:t>
            </a:r>
          </a:p>
          <a:p>
            <a:pPr>
              <a:spcAft>
                <a:spcPts val="1000"/>
              </a:spcAft>
              <a:defRPr sz="1800" b="0">
                <a:solidFill>
                  <a:srgbClr val="182330"/>
                </a:solidFill>
                <a:latin typeface="Aptos"/>
              </a:defRPr>
            </a:pPr>
            <a:r>
              <a:t>Conclude: the system converts placement screening into a repeatable, explainable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3108960" cy="2148840"/>
          </a:xfrm>
          <a:prstGeom prst="roundRect">
            <a:avLst/>
          </a:prstGeom>
          <a:solidFill>
            <a:srgbClr val="F1F7F6"/>
          </a:solidFill>
          <a:ln>
            <a:solidFill>
              <a:srgbClr val="DA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828800"/>
            <a:ext cx="73152" cy="2148840"/>
          </a:xfrm>
          <a:prstGeom prst="rect">
            <a:avLst/>
          </a:prstGeom>
          <a:solidFill>
            <a:srgbClr val="00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93392"/>
            <a:ext cx="2697479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0C1E32"/>
                </a:solidFill>
                <a:latin typeface="Aptos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95728"/>
            <a:ext cx="2697479" cy="1435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A practical agentic pipeline for faster placement screening, grounded in real institutional data and designed for incremental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500" b="1">
                <a:solidFill>
                  <a:srgbClr val="0C1E3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